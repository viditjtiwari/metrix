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Kant" userId="5ad3c5f57626082b" providerId="LiveId" clId="{B32A15F6-4FB1-4792-B177-23464E49A517}"/>
    <pc:docChg chg="modSld">
      <pc:chgData name="Vishnu Kant" userId="5ad3c5f57626082b" providerId="LiveId" clId="{B32A15F6-4FB1-4792-B177-23464E49A517}" dt="2026-09-29T05:29:39.466" v="271" actId="20577"/>
      <pc:docMkLst>
        <pc:docMk/>
      </pc:docMkLst>
      <pc:sldChg chg="modSp mod">
        <pc:chgData name="Vishnu Kant" userId="5ad3c5f57626082b" providerId="LiveId" clId="{B32A15F6-4FB1-4792-B177-23464E49A517}" dt="2026-09-29T05:29:39.466" v="271" actId="20577"/>
        <pc:sldMkLst>
          <pc:docMk/>
          <pc:sldMk cId="0" sldId="256"/>
        </pc:sldMkLst>
        <pc:spChg chg="mod">
          <ac:chgData name="Vishnu Kant" userId="5ad3c5f57626082b" providerId="LiveId" clId="{B32A15F6-4FB1-4792-B177-23464E49A517}" dt="2026-09-29T05:29:39.466" v="27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shnu Kant" userId="5ad3c5f57626082b" providerId="LiveId" clId="{B32A15F6-4FB1-4792-B177-23464E49A517}" dt="2026-09-29T05:28:12.460" v="91" actId="113"/>
          <ac:spMkLst>
            <pc:docMk/>
            <pc:sldMk cId="0" sldId="256"/>
            <ac:spMk id="9" creationId="{00000000-0000-0000-0000-000000000000}"/>
          </ac:spMkLst>
        </pc:spChg>
        <pc:spChg chg="mod">
          <ac:chgData name="Vishnu Kant" userId="5ad3c5f57626082b" providerId="LiveId" clId="{B32A15F6-4FB1-4792-B177-23464E49A517}" dt="2026-09-29T05:29:17.892" v="230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7219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Team METRIX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64592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2400" b="1">
                <a:solidFill>
                  <a:srgbClr val="0F2A4A"/>
                </a:solidFill>
                <a:latin typeface="Calibri"/>
              </a:defRPr>
            </a:pPr>
            <a:r>
              <a:t>METRIX: Online Verification &amp; Digital Certification System</a:t>
            </a:r>
          </a:p>
          <a:p>
            <a:pPr>
              <a:spcAft>
                <a:spcPts val="600"/>
              </a:spcAft>
              <a:defRPr sz="1300" b="1">
                <a:solidFill>
                  <a:srgbClr val="0072C6"/>
                </a:solidFill>
                <a:latin typeface="Calibri"/>
              </a:defRPr>
            </a:pPr>
            <a:r>
              <a:t>Legal Metrology Weighing and Measuring Instruments | Smart India Hackathon (SIH26036)</a:t>
            </a:r>
          </a:p>
          <a:p>
            <a:pPr>
              <a:defRPr sz="1100">
                <a:solidFill>
                  <a:srgbClr val="525252"/>
                </a:solidFill>
                <a:latin typeface="Calibri"/>
              </a:defRPr>
            </a:pPr>
            <a:r>
              <a:t>Problem Statement: Department of Consumer Affairs, Legal Metrology Division — Development of an Online Verification System for Weighing and Measuring Instruments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3383280" cy="29260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🎯 Core Project Objective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Mission &amp; Scope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Paperless Governance: </a:t>
            </a:r>
            <a:r>
              <a:rPr sz="1100" b="0">
                <a:solidFill>
                  <a:srgbClr val="21272A"/>
                </a:solidFill>
              </a:rPr>
              <a:t>Digitize end-to-end statutory verification under Legal Metrology Act 2009 &amp; 2011 Rules.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Tamper-Evident Security: </a:t>
            </a:r>
            <a:r>
              <a:rPr sz="1100" b="0">
                <a:solidFill>
                  <a:srgbClr val="21272A"/>
                </a:solidFill>
              </a:rPr>
              <a:t>Eliminate physical lead seal forgery using SHA-256 cryptographic hashes &amp; dynamic QR codes.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Real-time Public Audit: </a:t>
            </a:r>
            <a:r>
              <a:rPr sz="1100" b="0">
                <a:solidFill>
                  <a:srgbClr val="21272A"/>
                </a:solidFill>
              </a:rPr>
              <a:t>Enable instant mobile QR scanning for consumers &amp; automated expiry reminders.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651760"/>
            <a:ext cx="3566160" cy="29260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rPr dirty="0"/>
              <a:t>👥 Student Development Team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rPr dirty="0"/>
              <a:t>Department of Computer Science &amp; Engineering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Team Lead &amp; Architecture: </a:t>
            </a:r>
            <a:r>
              <a:rPr sz="1100" b="1" dirty="0">
                <a:solidFill>
                  <a:srgbClr val="21272A"/>
                </a:solidFill>
              </a:rPr>
              <a:t>V</a:t>
            </a:r>
            <a:r>
              <a:rPr lang="en-US" sz="1100" b="1" dirty="0">
                <a:solidFill>
                  <a:srgbClr val="21272A"/>
                </a:solidFill>
              </a:rPr>
              <a:t>idit J</a:t>
            </a:r>
            <a:r>
              <a:rPr sz="1100" b="1" dirty="0">
                <a:solidFill>
                  <a:srgbClr val="21272A"/>
                </a:solidFill>
              </a:rPr>
              <a:t> Tiwari </a:t>
            </a:r>
            <a:r>
              <a:rPr sz="1100" b="0" dirty="0">
                <a:solidFill>
                  <a:srgbClr val="21272A"/>
                </a:solidFill>
              </a:rPr>
              <a:t>(Roll: 23EJIC</a:t>
            </a:r>
            <a:r>
              <a:rPr lang="en-US" sz="1100" b="0" dirty="0">
                <a:solidFill>
                  <a:srgbClr val="21272A"/>
                </a:solidFill>
              </a:rPr>
              <a:t>S178</a:t>
            </a:r>
            <a:r>
              <a:rPr sz="1100" b="0" dirty="0">
                <a:solidFill>
                  <a:srgbClr val="21272A"/>
                </a:solidFill>
              </a:rPr>
              <a:t>) — Modular Monolith, State Machine &amp; </a:t>
            </a:r>
            <a:r>
              <a:rPr sz="1100" b="0" dirty="0" err="1">
                <a:solidFill>
                  <a:srgbClr val="21272A"/>
                </a:solidFill>
              </a:rPr>
              <a:t>FastAPI</a:t>
            </a:r>
            <a:r>
              <a:rPr sz="1100" b="0" dirty="0">
                <a:solidFill>
                  <a:srgbClr val="21272A"/>
                </a:solidFill>
              </a:rPr>
              <a:t> Core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Backend &amp; Security: </a:t>
            </a:r>
            <a:r>
              <a:rPr lang="en-US" sz="1100" b="1" dirty="0">
                <a:solidFill>
                  <a:srgbClr val="21272A"/>
                </a:solidFill>
              </a:rPr>
              <a:t>Vishnu Kant</a:t>
            </a:r>
            <a:r>
              <a:rPr sz="1100" b="0" dirty="0">
                <a:solidFill>
                  <a:srgbClr val="21272A"/>
                </a:solidFill>
              </a:rPr>
              <a:t> (Roll: 23EJIC</a:t>
            </a:r>
            <a:r>
              <a:rPr lang="en-US" sz="1100" b="0" dirty="0">
                <a:solidFill>
                  <a:srgbClr val="21272A"/>
                </a:solidFill>
              </a:rPr>
              <a:t>S182</a:t>
            </a:r>
            <a:r>
              <a:rPr sz="1100" b="0" dirty="0">
                <a:solidFill>
                  <a:srgbClr val="21272A"/>
                </a:solidFill>
              </a:rPr>
              <a:t>) — </a:t>
            </a:r>
            <a:r>
              <a:rPr sz="1100" b="0" dirty="0" err="1">
                <a:solidFill>
                  <a:srgbClr val="21272A"/>
                </a:solidFill>
              </a:rPr>
              <a:t>ReportLab</a:t>
            </a:r>
            <a:r>
              <a:rPr sz="1100" b="0" dirty="0">
                <a:solidFill>
                  <a:srgbClr val="21272A"/>
                </a:solidFill>
              </a:rPr>
              <a:t> PDF Engine, SHA-256 Hashes, PostgreSQL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Frontend &amp; Redux: </a:t>
            </a:r>
            <a:r>
              <a:rPr lang="en-US" sz="1100" b="1" dirty="0">
                <a:solidFill>
                  <a:srgbClr val="21272A"/>
                </a:solidFill>
              </a:rPr>
              <a:t>Tamanna Parveen</a:t>
            </a:r>
            <a:r>
              <a:rPr sz="1100" b="1" dirty="0">
                <a:solidFill>
                  <a:srgbClr val="21272A"/>
                </a:solidFill>
              </a:rPr>
              <a:t> </a:t>
            </a:r>
            <a:r>
              <a:rPr sz="1100" b="0" dirty="0">
                <a:solidFill>
                  <a:srgbClr val="21272A"/>
                </a:solidFill>
              </a:rPr>
              <a:t>(Roll: 23EJICS</a:t>
            </a:r>
            <a:r>
              <a:rPr lang="en-US" sz="1100" b="0" dirty="0">
                <a:solidFill>
                  <a:srgbClr val="21272A"/>
                </a:solidFill>
              </a:rPr>
              <a:t>169</a:t>
            </a:r>
            <a:r>
              <a:rPr sz="1100" b="0" dirty="0">
                <a:solidFill>
                  <a:srgbClr val="21272A"/>
                </a:solidFill>
              </a:rPr>
              <a:t> — Next.js 14 App Router, Tailwind CSS, RTK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651760"/>
            <a:ext cx="3383280" cy="29260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rPr dirty="0"/>
              <a:t>🏛️ Mentorship &amp; Department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rPr dirty="0"/>
              <a:t>Academic Year 2026–27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Project </a:t>
            </a:r>
            <a:r>
              <a:rPr lang="en-US" sz="1100" b="1" dirty="0">
                <a:solidFill>
                  <a:srgbClr val="0F2A4A"/>
                </a:solidFill>
              </a:rPr>
              <a:t>Supervisor</a:t>
            </a:r>
            <a:r>
              <a:rPr sz="1100" b="1" dirty="0">
                <a:solidFill>
                  <a:srgbClr val="0F2A4A"/>
                </a:solidFill>
              </a:rPr>
              <a:t>: </a:t>
            </a:r>
            <a:r>
              <a:rPr lang="en-US" sz="1100" dirty="0">
                <a:solidFill>
                  <a:srgbClr val="21272A"/>
                </a:solidFill>
              </a:rPr>
              <a:t> </a:t>
            </a:r>
            <a:r>
              <a:rPr lang="en-US" sz="1100" b="1" dirty="0">
                <a:solidFill>
                  <a:srgbClr val="21272A"/>
                </a:solidFill>
              </a:rPr>
              <a:t>Mamta Garg Dean JIET</a:t>
            </a:r>
            <a:endParaRPr sz="1100" b="1" dirty="0">
              <a:solidFill>
                <a:srgbClr val="21272A"/>
              </a:solidFill>
            </a:endParaRP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Department: </a:t>
            </a:r>
            <a:r>
              <a:rPr sz="1100" b="0" dirty="0">
                <a:solidFill>
                  <a:srgbClr val="21272A"/>
                </a:solidFill>
              </a:rPr>
              <a:t>Department of Computer Science &amp; Engineering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Institution: </a:t>
            </a:r>
            <a:r>
              <a:rPr lang="en-US" sz="1100" dirty="0">
                <a:solidFill>
                  <a:srgbClr val="21272A"/>
                </a:solidFill>
              </a:rPr>
              <a:t>JIET Jodhpur</a:t>
            </a:r>
            <a:endParaRPr sz="1100" b="0" dirty="0">
              <a:solidFill>
                <a:srgbClr val="21272A"/>
              </a:solidFill>
            </a:endParaRP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 dirty="0">
                <a:solidFill>
                  <a:srgbClr val="0F62FE"/>
                </a:solidFill>
              </a:rPr>
              <a:t>• </a:t>
            </a:r>
            <a:r>
              <a:rPr sz="1100" b="1" dirty="0">
                <a:solidFill>
                  <a:srgbClr val="0F2A4A"/>
                </a:solidFill>
              </a:rPr>
              <a:t>Project Type: </a:t>
            </a:r>
            <a:r>
              <a:rPr sz="1100" b="0" dirty="0">
                <a:solidFill>
                  <a:srgbClr val="21272A"/>
                </a:solidFill>
              </a:rPr>
              <a:t>Major Capstone Project / SIH National Hackathon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OVERVIEW &amp;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00584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400" b="1">
                <a:solidFill>
                  <a:srgbClr val="0F2A4A"/>
                </a:solidFill>
              </a:defRPr>
            </a:pPr>
            <a:r>
              <a:t>Comprehensive Legal Metrology Digitization (SIH Problem ID: SIH26036)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METRIX bridges commercial traders, regulatory officers, calibration labs, and 1.4B consumers into a tamper-proof digital verification ecosystem, enforcing Schedule XII statutory fees and Rule 14 compounding surcharges.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560320" cy="3749039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1. Regulatory Context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Legal Metrology Act, 2009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Statutory Mandate: </a:t>
            </a:r>
            <a:r>
              <a:rPr sz="1050" b="0">
                <a:solidFill>
                  <a:srgbClr val="21272A"/>
                </a:solidFill>
              </a:rPr>
              <a:t>Every commercial instrument requires mandatory periodic verification.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Current Chaos: </a:t>
            </a:r>
            <a:r>
              <a:rPr sz="1050" b="0">
                <a:solidFill>
                  <a:srgbClr val="21272A"/>
                </a:solidFill>
              </a:rPr>
              <a:t>Paper stamping, manual registers, and inspection delays.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Enforcement Gap: </a:t>
            </a:r>
            <a:r>
              <a:rPr sz="1050" b="0">
                <a:solidFill>
                  <a:srgbClr val="21272A"/>
                </a:solidFill>
              </a:rPr>
              <a:t>Lack of central tracking leads to millions of unverified scales in daily trade.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65960"/>
            <a:ext cx="2560320" cy="3749039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2. Core Problem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Fraud &amp; Seal Tampering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Counterfeit Seals: </a:t>
            </a:r>
            <a:r>
              <a:rPr sz="1050" b="0">
                <a:solidFill>
                  <a:srgbClr val="21272A"/>
                </a:solidFill>
              </a:rPr>
              <a:t>Physical lead seals are easily faked or duplicated by dishonest traders.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Consumer Exploitation: </a:t>
            </a:r>
            <a:r>
              <a:rPr sz="1050" b="0">
                <a:solidFill>
                  <a:srgbClr val="21272A"/>
                </a:solidFill>
              </a:rPr>
              <a:t>Under-weighing cheats consumers in grocery, gold, and fuel sectors.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Zero Public Proof: </a:t>
            </a:r>
            <a:r>
              <a:rPr sz="1050" b="0">
                <a:solidFill>
                  <a:srgbClr val="21272A"/>
                </a:solidFill>
              </a:rPr>
              <a:t>Shoppers cannot verify whether a vendor's scale is certified.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65960"/>
            <a:ext cx="2560320" cy="3749039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3. The METRIX Solution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Cryptographic Workflow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Digital Applications: </a:t>
            </a:r>
            <a:r>
              <a:rPr sz="1050" b="0">
                <a:solidFill>
                  <a:srgbClr val="21272A"/>
                </a:solidFill>
              </a:rPr>
              <a:t>Traders register devices and upload treasury challan payment proofs.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Statutory Routing: </a:t>
            </a:r>
            <a:r>
              <a:rPr sz="1050" b="0">
                <a:solidFill>
                  <a:srgbClr val="21272A"/>
                </a:solidFill>
              </a:rPr>
              <a:t>Field inspections for retail scales; GATC labs for high-precision meters.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Digital Certificate: </a:t>
            </a:r>
            <a:r>
              <a:rPr sz="1050" b="0">
                <a:solidFill>
                  <a:srgbClr val="21272A"/>
                </a:solidFill>
              </a:rPr>
              <a:t>Automated bilingual PDF with Level-H QR code and SHA-256 fingerprint.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965960"/>
            <a:ext cx="2560320" cy="3749039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4. 5 Key Stakeholders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Role-Based Interaction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Traders / Owners: </a:t>
            </a:r>
            <a:r>
              <a:rPr sz="1050" b="0">
                <a:solidFill>
                  <a:srgbClr val="21272A"/>
                </a:solidFill>
              </a:rPr>
              <a:t>Register &amp; track certificates.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LMO Officers: </a:t>
            </a:r>
            <a:r>
              <a:rPr sz="1050" b="0">
                <a:solidFill>
                  <a:srgbClr val="21272A"/>
                </a:solidFill>
              </a:rPr>
              <a:t>Field testing &amp; verification.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GATC Labs: </a:t>
            </a:r>
            <a:r>
              <a:rPr sz="1050" b="0">
                <a:solidFill>
                  <a:srgbClr val="21272A"/>
                </a:solidFill>
              </a:rPr>
              <a:t>High precision calibration.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Admin: </a:t>
            </a:r>
            <a:r>
              <a:rPr sz="1050" b="0">
                <a:solidFill>
                  <a:srgbClr val="21272A"/>
                </a:solidFill>
              </a:rPr>
              <a:t>Queue management &amp; audit logs.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1">
                <a:solidFill>
                  <a:srgbClr val="0F2A4A"/>
                </a:solidFill>
              </a:rPr>
              <a:t>Citizens: </a:t>
            </a:r>
            <a:r>
              <a:rPr sz="1050" b="0">
                <a:solidFill>
                  <a:srgbClr val="21272A"/>
                </a:solidFill>
              </a:rPr>
              <a:t>Instant QR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STATEMENT &amp; STATUTORY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484632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❌ Traditional Manual Verification System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High Risk of Fraud, Delays &amp; Revenue Leakage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9B2C2C"/>
                </a:solidFill>
              </a:rPr>
              <a:t>Vulnerability to Stamp Forgery: </a:t>
            </a:r>
            <a:r>
              <a:rPr sz="1150" b="0">
                <a:solidFill>
                  <a:srgbClr val="21272A"/>
                </a:solidFill>
              </a:rPr>
              <a:t>Lead seals and inked stampings are forged using cheap dies, enabling tampered weight mechanisms.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9B2C2C"/>
                </a:solidFill>
              </a:rPr>
              <a:t>No Centralized Expiry Tracking: </a:t>
            </a:r>
            <a:r>
              <a:rPr sz="1150" b="0">
                <a:solidFill>
                  <a:srgbClr val="21272A"/>
                </a:solidFill>
              </a:rPr>
              <a:t>States rely on paper ledgers. Officers cannot track which merchant's certificate has expired without physical raids.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9B2C2C"/>
                </a:solidFill>
              </a:rPr>
              <a:t>Zero Public Transparency: </a:t>
            </a:r>
            <a:r>
              <a:rPr sz="1150" b="0">
                <a:solidFill>
                  <a:srgbClr val="21272A"/>
                </a:solidFill>
              </a:rPr>
              <a:t>Consumers have no mechanism to check if a vegetable vendor, petrol pump, or jeweler's scale is verified.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9B2C2C"/>
                </a:solidFill>
              </a:rPr>
              <a:t>Revenue Surcharges Not Enforced: </a:t>
            </a:r>
            <a:r>
              <a:rPr sz="1150" b="0">
                <a:solidFill>
                  <a:srgbClr val="21272A"/>
                </a:solidFill>
              </a:rPr>
              <a:t>Rule 14 mandates 50% compounding late surcharges per delayed quarter, which are routinely missed in manual receipts.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9B2C2C"/>
                </a:solidFill>
              </a:rPr>
              <a:t>Siloed Lab Calibrations: </a:t>
            </a:r>
            <a:r>
              <a:rPr sz="1150" b="0">
                <a:solidFill>
                  <a:srgbClr val="21272A"/>
                </a:solidFill>
              </a:rPr>
              <a:t>Government Approved Test Centres (GATC) have no unified pipeline to submit calibration dossiers for legal endorsement.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4846320"/>
          </a:xfrm>
          <a:prstGeom prst="roundRect">
            <a:avLst/>
          </a:prstGeom>
          <a:solidFill>
            <a:srgbClr val="EDF9F0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✅ SIH26036 Mandate &amp; The METRIX Resolution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End-to-End Cryptographic Metrology Platform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166534"/>
                </a:solidFill>
              </a:rPr>
              <a:t>SIH Problem Statement: </a:t>
            </a:r>
            <a:r>
              <a:rPr sz="1150" b="0">
                <a:solidFill>
                  <a:srgbClr val="21272A"/>
                </a:solidFill>
              </a:rPr>
              <a:t>'Development of an Online Verification System for Weighing and Measuring Instruments' (Dept of Consumer Affairs).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166534"/>
                </a:solidFill>
              </a:rPr>
              <a:t>Cryptographic Seal of Authenticity: </a:t>
            </a:r>
            <a:r>
              <a:rPr sz="1150" b="0">
                <a:solidFill>
                  <a:srgbClr val="21272A"/>
                </a:solidFill>
              </a:rPr>
              <a:t>Every certificate is embedded with an irreversible SHA-256 hash. If data is altered by even 1 character, the seal breaks.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166534"/>
                </a:solidFill>
              </a:rPr>
              <a:t>Level-H QR Public Verification: </a:t>
            </a:r>
            <a:r>
              <a:rPr sz="1150" b="0">
                <a:solidFill>
                  <a:srgbClr val="21272A"/>
                </a:solidFill>
              </a:rPr>
              <a:t>Camera-scannable QR codes allow any shopper to verify scale validity in under 1.5 seconds without logging in.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166534"/>
                </a:solidFill>
              </a:rPr>
              <a:t>Automated Rule 14 Late Fees: </a:t>
            </a:r>
            <a:r>
              <a:rPr sz="1150" b="0">
                <a:solidFill>
                  <a:srgbClr val="21272A"/>
                </a:solidFill>
              </a:rPr>
              <a:t>Mathematical fee engine auto-calculates Schedule XII base fees + compound late surcharges based on registration dates.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166534"/>
                </a:solidFill>
              </a:rPr>
              <a:t>Citizen Whistleblower Portal: </a:t>
            </a:r>
            <a:r>
              <a:rPr sz="1150" b="0">
                <a:solidFill>
                  <a:srgbClr val="21272A"/>
                </a:solidFill>
              </a:rPr>
              <a:t>Integrated complaint portal with photo upload and geo-tagging, directly dispatching alerts to jurisdictional LMOs.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PROJECT OBJECTIVES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1155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50" b="1">
                <a:solidFill>
                  <a:srgbClr val="0F2A4A"/>
                </a:solidFill>
              </a:defRPr>
            </a:pPr>
            <a:r>
              <a:t>1. End-to-End Digital Verification Lifecycle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Eliminate physical paper forms by automating trader application submission, fee challan uploads, officer scheduling, checklist observations, and digital certificate generation into a unified state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932688"/>
            <a:ext cx="2377440" cy="32004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Target: 100% Paperless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29968"/>
            <a:ext cx="10881360" cy="11155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50" b="1">
                <a:solidFill>
                  <a:srgbClr val="0F2A4A"/>
                </a:solidFill>
              </a:defRPr>
            </a:pPr>
            <a:r>
              <a:t>2. Cryptographic Certificate Security &amp; Anti-Counterfeiting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Generate bilingual (Hindi/English) legal certificates featuring ReportLab 45° anti-copy watermarks, SHA-256 digital fingerprinting, and dynamic Level-H error-correcting QR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139696"/>
            <a:ext cx="2377440" cy="32004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Target: Zero Certificate Forgery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36976"/>
            <a:ext cx="10881360" cy="11155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50" b="1">
                <a:solidFill>
                  <a:srgbClr val="0F2A4A"/>
                </a:solidFill>
              </a:defRPr>
            </a:pPr>
            <a:r>
              <a:t>3. Multi-Actor Role-Based Access Control (RBAC)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Implement strict authorization boundaries across 5 statutory roles (Owner/Trader, Legal Metrology Officer, GATC Lab, State Administrator, Citizen) using JWT tokens and FastAPI dependency injection.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346704"/>
            <a:ext cx="2377440" cy="32004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Target: Zero Unauthorized Privilege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10881360" cy="11155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50" b="1">
                <a:solidFill>
                  <a:srgbClr val="0F2A4A"/>
                </a:solidFill>
              </a:defRPr>
            </a:pPr>
            <a:r>
              <a:t>4. Consumer Empowerment &amp; Proactive Compliance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Provide public QR scanning portal, automated 30-day renewal alerts prior to 12/24-month statutory expiry, and a citizen grievance redressal mechanism for fraudulent weighing scales.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553712"/>
            <a:ext cx="2377440" cy="32004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Target: &lt; 2s Public QR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EXISTING SYSTEMS VS. METRIX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4846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🏛️ Existing State Portals &amp; Manual Process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e-Maap / State Metrology Sites &amp; Physical Visits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Static Application Forms: </a:t>
            </a:r>
            <a:r>
              <a:rPr sz="1150" b="0">
                <a:solidFill>
                  <a:srgbClr val="21272A"/>
                </a:solidFill>
              </a:rPr>
              <a:t>Legacy portals act merely as document upload repositories without intelligent routing or state machines.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Physical Paper Certificates: </a:t>
            </a:r>
            <a:r>
              <a:rPr sz="1150" b="0">
                <a:solidFill>
                  <a:srgbClr val="21272A"/>
                </a:solidFill>
              </a:rPr>
              <a:t>Issued as paper receipts vulnerable to tearing, loss, water damage, and unverified duplicate printing.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Manual Inspection Scheduling: </a:t>
            </a:r>
            <a:r>
              <a:rPr sz="1150" b="0">
                <a:solidFill>
                  <a:srgbClr val="21272A"/>
                </a:solidFill>
              </a:rPr>
              <a:t>No automated allocation. Officers manually select dates without workload balancing or priority sorting.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No Public Verification Portal: </a:t>
            </a:r>
            <a:r>
              <a:rPr sz="1150" b="0">
                <a:solidFill>
                  <a:srgbClr val="21272A"/>
                </a:solidFill>
              </a:rPr>
              <a:t>Citizens cannot verify certificates displayed in shops. Inspections only happen during sporadic raids.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Disconnected Testing Labs: </a:t>
            </a:r>
            <a:r>
              <a:rPr sz="1150" b="0">
                <a:solidFill>
                  <a:srgbClr val="21272A"/>
                </a:solidFill>
              </a:rPr>
              <a:t>GATCs send paper test reports; officers re-type readings into local computers, introducing manual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484632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⚡ METRIX Next-Gen Architecture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Engineered for Smart India Hackathon SIH26036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Automated 12-State Finite State Machine: </a:t>
            </a:r>
            <a:r>
              <a:rPr sz="1150" b="0">
                <a:solidFill>
                  <a:srgbClr val="21272A"/>
                </a:solidFill>
              </a:rPr>
              <a:t>Strict lifecycle transitions (`DRAFT` ➔ `SUBMITTED` ➔ `UNDER_REVIEW` ➔ `SCHEDULED` ➔ `VERIFIED`).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Bilingual PDF with Anti-Copy Watermark: </a:t>
            </a:r>
            <a:r>
              <a:rPr sz="1150" b="0">
                <a:solidFill>
                  <a:srgbClr val="21272A"/>
                </a:solidFill>
              </a:rPr>
              <a:t>Official ReportLab generator with Ashoka emblem layout, tamper-evident SHA-256 seal, and inspection photo.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Intelligent Statutory Routing: </a:t>
            </a:r>
            <a:r>
              <a:rPr sz="1150" b="0">
                <a:solidFill>
                  <a:srgbClr val="21272A"/>
                </a:solidFill>
              </a:rPr>
              <a:t>Routes standard retail scales to LMO field visits, and high-precision instruments to GATC NABL labs.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Public Camera QR Scanner (/verify): </a:t>
            </a:r>
            <a:r>
              <a:rPr sz="1150" b="0">
                <a:solidFill>
                  <a:srgbClr val="21272A"/>
                </a:solidFill>
              </a:rPr>
              <a:t>Zero-login mobile interface allowing anyone to scan a shop's QR code and confirm valid verification.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Direct GATC Lab Dossier Endorsement: </a:t>
            </a:r>
            <a:r>
              <a:rPr sz="1150" b="0">
                <a:solidFill>
                  <a:srgbClr val="21272A"/>
                </a:solidFill>
              </a:rPr>
              <a:t>Labs record calibration curves digitally; LMOs review and endorse under Rule 27 with one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SYSTEM ARCHITECTURE — METRIX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05156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400" b="1">
                <a:solidFill>
                  <a:srgbClr val="0F2A4A"/>
                </a:solidFill>
              </a:defRPr>
            </a:pPr>
            <a:r>
              <a:t>High-Integrity, Modular Monolith Digital Verification Engine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Built on Python FastAPI + PostgreSQL + Next.js 14. Designed without unnecessary microservice overhead to guarantee maximum reliability, immediate database consistency, and sub-150ms response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2900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1. Trader &amp; Device Inputs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Level 1: Submission &amp; Fees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Device Onboarding: </a:t>
            </a:r>
            <a:r>
              <a:rPr sz="1100" b="0">
                <a:solidFill>
                  <a:srgbClr val="21272A"/>
                </a:solidFill>
              </a:rPr>
              <a:t>Instrument class, brand, model, serial no., capacity, verification interval.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Statutory Documents: </a:t>
            </a:r>
            <a:r>
              <a:rPr sz="1100" b="0">
                <a:solidFill>
                  <a:srgbClr val="21272A"/>
                </a:solidFill>
              </a:rPr>
              <a:t>Type Approval Certificate (TAC), front/nameplate photos, purchase invoice.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Payment Challan: </a:t>
            </a:r>
            <a:r>
              <a:rPr sz="1100" b="0">
                <a:solidFill>
                  <a:srgbClr val="21272A"/>
                </a:solidFill>
              </a:rPr>
              <a:t>Bank UTR receipt proof uploaded for statutory fee verification.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Two-Way Clarification: </a:t>
            </a:r>
            <a:r>
              <a:rPr sz="1100" b="0">
                <a:solidFill>
                  <a:srgbClr val="21272A"/>
                </a:solidFill>
              </a:rPr>
              <a:t>Trader responds inline to any queries raised by inspecting officers.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2900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2. Processing Engine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Level 2-4: Routing &amp; Audit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Fee Engine: </a:t>
            </a:r>
            <a:r>
              <a:rPr sz="1100" b="0">
                <a:solidFill>
                  <a:srgbClr val="21272A"/>
                </a:solidFill>
              </a:rPr>
              <a:t>Calculates base fee + compounding Rule 14 late surcharges (+50%/qtr).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Statutory Router: </a:t>
            </a:r>
            <a:r>
              <a:rPr sz="1100" b="0">
                <a:solidFill>
                  <a:srgbClr val="21272A"/>
                </a:solidFill>
              </a:rPr>
              <a:t>Routes to LMO Field or GATC Lab per Schedule III classification.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Inspection Logging: </a:t>
            </a:r>
            <a:r>
              <a:rPr sz="1100" b="0">
                <a:solidFill>
                  <a:srgbClr val="21272A"/>
                </a:solidFill>
              </a:rPr>
              <a:t>Records visual inspection, zero-load test, repeatability error margin.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LMO Endorsement: </a:t>
            </a:r>
            <a:r>
              <a:rPr sz="1100" b="0">
                <a:solidFill>
                  <a:srgbClr val="21272A"/>
                </a:solidFill>
              </a:rPr>
              <a:t>Rule 27 statutory endorsement of lab dossiers by gazetted officers.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42900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3. Deliverables &amp; Outputs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Level 5-6: Trust &amp; Public Audit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Digital Certificate: </a:t>
            </a:r>
            <a:r>
              <a:rPr sz="1100" b="0">
                <a:solidFill>
                  <a:srgbClr val="21272A"/>
                </a:solidFill>
              </a:rPr>
              <a:t>Bilingual ReportLab PDF with official formatting and watermarks.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SHA-256 Seal: </a:t>
            </a:r>
            <a:r>
              <a:rPr sz="1100" b="0">
                <a:solidFill>
                  <a:srgbClr val="21272A"/>
                </a:solidFill>
              </a:rPr>
              <a:t>Irreversible canonical hash safeguarding certificate integrity.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Level-H QR Code: </a:t>
            </a:r>
            <a:r>
              <a:rPr sz="1100" b="0">
                <a:solidFill>
                  <a:srgbClr val="21272A"/>
                </a:solidFill>
              </a:rPr>
              <a:t>Embedded high-density QR code for instant camera verification.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Citizen Redressal: </a:t>
            </a:r>
            <a:r>
              <a:rPr sz="1100" b="0">
                <a:solidFill>
                  <a:srgbClr val="21272A"/>
                </a:solidFill>
              </a:rPr>
              <a:t>Public whistleblower portal for reporting unverified or rigged scales.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FOUR-TIER MODULAR MONOLITH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1430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00" b="1">
                <a:solidFill>
                  <a:srgbClr val="0F2A4A"/>
                </a:solidFill>
              </a:defRPr>
            </a:pPr>
            <a:r>
              <a:t>Tier 1: Presentation Layer (Next.js 14 + TypeScript)</a:t>
            </a:r>
          </a:p>
          <a:p>
            <a:pPr>
              <a:defRPr sz="1050">
                <a:solidFill>
                  <a:srgbClr val="21272A"/>
                </a:solidFill>
              </a:defRPr>
            </a:pPr>
            <a:r>
              <a:t>App Router, Server-Side Rendering (SSR), Tailwind CSS, Lucide Icons, Redux Toolkit Query (RTK Query for cached server state and optimistic UI updates). Fully responsive across desktop and mobile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32688"/>
            <a:ext cx="1463040" cy="27432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Core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881360" cy="11430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00" b="1">
                <a:solidFill>
                  <a:srgbClr val="0F2A4A"/>
                </a:solidFill>
              </a:defRPr>
            </a:pPr>
            <a:r>
              <a:t>Tier 2: API &amp; Gateway Layer (FastAPI Asynchronous Web Framework)</a:t>
            </a:r>
          </a:p>
          <a:p>
            <a:pPr>
              <a:defRPr sz="1050">
                <a:solidFill>
                  <a:srgbClr val="21272A"/>
                </a:solidFill>
              </a:defRPr>
            </a:pPr>
            <a:r>
              <a:t>High-performance Python ASGI backend at `/api/v1`. Features strict Pydantic v2 schema validation, CORS security, JWT bearer authentication middleware, and role-based dependency injection guards (`require_role`).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167128"/>
            <a:ext cx="1463040" cy="27432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Core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10881360" cy="11430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00" b="1">
                <a:solidFill>
                  <a:srgbClr val="0F2A4A"/>
                </a:solidFill>
              </a:defRPr>
            </a:pPr>
            <a:r>
              <a:t>Tier 3: Domain Service Layer (Statutory Logic &amp; Cryptography)</a:t>
            </a:r>
          </a:p>
          <a:p>
            <a:pPr>
              <a:defRPr sz="1050">
                <a:solidFill>
                  <a:srgbClr val="21272A"/>
                </a:solidFill>
              </a:defRPr>
            </a:pPr>
            <a:r>
              <a:t>Encapsulates business rules and state machines: `AuthService`, `ApplicationService`, `InspectionService`, `CertificateService` (ReportLab PDF generation + Python `qrcode` + SHA-256 computation), and `NotificationService`.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3401568"/>
            <a:ext cx="1463040" cy="27432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Core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10881360" cy="11430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300" b="1">
                <a:solidFill>
                  <a:srgbClr val="0F2A4A"/>
                </a:solidFill>
              </a:defRPr>
            </a:pPr>
            <a:r>
              <a:t>Tier 4: Persistence &amp; Storage Layer (PostgreSQL 16 + SQLAlchemy 2.0)</a:t>
            </a:r>
          </a:p>
          <a:p>
            <a:pPr>
              <a:defRPr sz="1050">
                <a:solidFill>
                  <a:srgbClr val="21272A"/>
                </a:solidFill>
              </a:defRPr>
            </a:pPr>
            <a:r>
              <a:t>Enterprise relational database with ACID guarantees, foreign key constraints, connection pooling via `asyncpg`/`psycopg2`, and code-controlled versioned migrations via Alembic. Local secure PDF file storage.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636008"/>
            <a:ext cx="1463040" cy="27432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Core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STATUTORY VERIFICATION LIFECYCLE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2029968" cy="43891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Step 1: Registration &amp; Filing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DRAFT ➔ SUBMITTED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0">
                <a:solidFill>
                  <a:srgbClr val="21272A"/>
                </a:solidFill>
              </a:rPr>
              <a:t>Trader registers instrument, uploads TAC &amp; invoice, calculates statutory fee, deposits challan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164592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 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005840"/>
            <a:ext cx="2029968" cy="43891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Step 2: Audit &amp; Scheduling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UNDER_REVIEW ➔ SCHEDULED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0">
                <a:solidFill>
                  <a:srgbClr val="21272A"/>
                </a:solidFill>
              </a:rPr>
              <a:t>LMO verifies bank challan. If valid, routes to Field or Lab mode &amp; allocates inspector with date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4937760"/>
            <a:ext cx="164592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 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005840"/>
            <a:ext cx="2029968" cy="43891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Step 3: Physical Inspection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INSPECTION_IN_PROGRESS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0">
                <a:solidFill>
                  <a:srgbClr val="21272A"/>
                </a:solidFill>
              </a:rPr>
              <a:t>Inspector conducts zero-load, repeatability tests, checks error tolerances (MPE), logs photos.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4937760"/>
            <a:ext cx="164592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 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1005840"/>
            <a:ext cx="2029968" cy="43891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Step 4: Statutory Issuance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VERIFIED ➔ CERT_ISSUED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0">
                <a:solidFill>
                  <a:srgbClr val="21272A"/>
                </a:solidFill>
              </a:rPr>
              <a:t>LMO approves result. Automated engine builds bilingual PDF, SHA-256 seal &amp; dynamic QR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4937760"/>
            <a:ext cx="164592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 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1005840"/>
            <a:ext cx="2029968" cy="43891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Step 5: Public Audit &amp; Alerts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ACTIVE / EXPIRY TRACKING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• </a:t>
            </a:r>
            <a:r>
              <a:rPr sz="1050" b="0">
                <a:solidFill>
                  <a:srgbClr val="21272A"/>
                </a:solidFill>
              </a:rPr>
              <a:t>Citizens scan QR to confirm validity. Automated engine sends renewal alerts 30 days before expiry.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4937760"/>
            <a:ext cx="1645920" cy="2743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Verified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SIX CORE 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1. Auth &amp; RBAC Module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JWT stateless token issuance, refresh rotation, bcrypt password hashing with salt, 5 discrete roles: Trader, LMO Officer, GATC Lab, Admin, Public.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1440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2. Instrument Registry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CRUD management for weighing &amp; measuring instruments, Type Approval Certificate (TAC) validation, serial number tracking, photo evidence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91440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3. Fee Calculator Engine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Schedule XII statutory fee calculations, compounding Rule 14 late surcharges (+50% per delayed quarter), and treasury challan receipt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4. Inspection &amp; Lab Module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Standard weight test logging, error margin (MPE) calculations, GATC calibration dossier submission, and Rule 27 statutory LMO endorsement.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9184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5. Digital Certificate &amp; QR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ReportLab automated PDF rendering, anti-copy watermark, SHA-256 canonical hash fingerprint, and dynamic Level-H error-correcting QR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291840"/>
            <a:ext cx="3474720" cy="22402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6. Grievance &amp; Audit Module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Modular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Scope: </a:t>
            </a:r>
            <a:r>
              <a:rPr sz="1100" b="0">
                <a:solidFill>
                  <a:srgbClr val="21272A"/>
                </a:solidFill>
              </a:rPr>
              <a:t>Citizen whistleblower portal for reporting unverified instruments with photos &amp; geolocation; administrative audit logging across all state transitions.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 CASES &amp; STAKEHOLDER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2560320" cy="47548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🏢 Instrument Owner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Traders &amp; Businesses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Onboard Device: </a:t>
            </a:r>
            <a:r>
              <a:rPr sz="1000" b="0">
                <a:solidFill>
                  <a:srgbClr val="21272A"/>
                </a:solidFill>
              </a:rPr>
              <a:t>Registers scale with TAC &amp; purchase invoice.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Fee Payment: </a:t>
            </a:r>
            <a:r>
              <a:rPr sz="1000" b="0">
                <a:solidFill>
                  <a:srgbClr val="21272A"/>
                </a:solidFill>
              </a:rPr>
              <a:t>Calculates fees and uploads treasury challan.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Track Status: </a:t>
            </a:r>
            <a:r>
              <a:rPr sz="1000" b="0">
                <a:solidFill>
                  <a:srgbClr val="21272A"/>
                </a:solidFill>
              </a:rPr>
              <a:t>Real-time timeline tracking (Draft ➔ Approved).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Download Cert: </a:t>
            </a:r>
            <a:r>
              <a:rPr sz="1000" b="0">
                <a:solidFill>
                  <a:srgbClr val="21272A"/>
                </a:solidFill>
              </a:rPr>
              <a:t>Retrieves signed digital certificate &amp; QR code.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Renewal Alert: </a:t>
            </a:r>
            <a:r>
              <a:rPr sz="1000" b="0">
                <a:solidFill>
                  <a:srgbClr val="21272A"/>
                </a:solidFill>
              </a:rPr>
              <a:t>Receives automated notice 30 days before expiry.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914400"/>
            <a:ext cx="2560320" cy="47548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👮 Legal Metrology Officer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Gazetted Field Inspectors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Review Challan: </a:t>
            </a:r>
            <a:r>
              <a:rPr sz="1000" b="0">
                <a:solidFill>
                  <a:srgbClr val="21272A"/>
                </a:solidFill>
              </a:rPr>
              <a:t>Audits payment proof and TAC compliance.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Conduct Test: </a:t>
            </a:r>
            <a:r>
              <a:rPr sz="1000" b="0">
                <a:solidFill>
                  <a:srgbClr val="21272A"/>
                </a:solidFill>
              </a:rPr>
              <a:t>Performs physical error testing against standards.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Endorse GATC: </a:t>
            </a:r>
            <a:r>
              <a:rPr sz="1000" b="0">
                <a:solidFill>
                  <a:srgbClr val="21272A"/>
                </a:solidFill>
              </a:rPr>
              <a:t>Statutory Rule 27 sign-off on lab calibration dossiers.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Issue Certificate: </a:t>
            </a:r>
            <a:r>
              <a:rPr sz="1000" b="0">
                <a:solidFill>
                  <a:srgbClr val="21272A"/>
                </a:solidFill>
              </a:rPr>
              <a:t>Digital approval triggering instant certificate generation.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Action Grievance: </a:t>
            </a:r>
            <a:r>
              <a:rPr sz="1000" b="0">
                <a:solidFill>
                  <a:srgbClr val="21272A"/>
                </a:solidFill>
              </a:rPr>
              <a:t>Dispatched to inspect merchant on citizen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914400"/>
            <a:ext cx="2560320" cy="47548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🔬 GATC Calibration Lab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Government Approved Centres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Receive Routing: </a:t>
            </a:r>
            <a:r>
              <a:rPr sz="1000" b="0">
                <a:solidFill>
                  <a:srgbClr val="21272A"/>
                </a:solidFill>
              </a:rPr>
              <a:t>Assigned high-precision / custody transfer instruments.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Lab Calibration: </a:t>
            </a:r>
            <a:r>
              <a:rPr sz="1000" b="0">
                <a:solidFill>
                  <a:srgbClr val="21272A"/>
                </a:solidFill>
              </a:rPr>
              <a:t>Conducts temperature-controlled NABL testing.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Error Curves: </a:t>
            </a:r>
            <a:r>
              <a:rPr sz="1000" b="0">
                <a:solidFill>
                  <a:srgbClr val="21272A"/>
                </a:solidFill>
              </a:rPr>
              <a:t>Logs precision error curves and repeatability.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Submit Dossier: </a:t>
            </a:r>
            <a:r>
              <a:rPr sz="1000" b="0">
                <a:solidFill>
                  <a:srgbClr val="21272A"/>
                </a:solidFill>
              </a:rPr>
              <a:t>Uploads laboratory report for LMO endorsement.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4544" y="914400"/>
            <a:ext cx="2560320" cy="47548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👥 Public Consumer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1.4 Billion Citizens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Scan QR Code: </a:t>
            </a:r>
            <a:r>
              <a:rPr sz="1000" b="0">
                <a:solidFill>
                  <a:srgbClr val="21272A"/>
                </a:solidFill>
              </a:rPr>
              <a:t>Uses smartphone camera to scan instrument QR code.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Instant Audit: </a:t>
            </a:r>
            <a:r>
              <a:rPr sz="1000" b="0">
                <a:solidFill>
                  <a:srgbClr val="21272A"/>
                </a:solidFill>
              </a:rPr>
              <a:t>Views validity status, expiry date, and verified photo.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File Complaint: </a:t>
            </a:r>
            <a:r>
              <a:rPr sz="1000" b="0">
                <a:solidFill>
                  <a:srgbClr val="21272A"/>
                </a:solidFill>
              </a:rPr>
              <a:t>Reports short-weighing or tampered seals with photos.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000" b="1">
                <a:solidFill>
                  <a:srgbClr val="0F62FE"/>
                </a:solidFill>
              </a:rPr>
              <a:t>• </a:t>
            </a:r>
            <a:r>
              <a:rPr sz="1000" b="1">
                <a:solidFill>
                  <a:srgbClr val="0F2A4A"/>
                </a:solidFill>
              </a:rPr>
              <a:t>Track Redressal: </a:t>
            </a:r>
            <a:r>
              <a:rPr sz="1000" b="0">
                <a:solidFill>
                  <a:srgbClr val="21272A"/>
                </a:solidFill>
              </a:rPr>
              <a:t>Receives complaint resolution status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RELATIONAL DATABASE DESIGN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4846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🗄️ PostgreSQL 16 Architecture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ACID Compliance, Third Normal Form (3NF) &amp; Integrity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ACID Transaction Guarantees: </a:t>
            </a:r>
            <a:r>
              <a:rPr sz="1150" b="0">
                <a:solidFill>
                  <a:srgbClr val="21272A"/>
                </a:solidFill>
              </a:rPr>
              <a:t>Mandatory for legal metrology records: certificate issuance, state transitions, and fee verifications are atomic.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Strict Relational Constraints: </a:t>
            </a:r>
            <a:r>
              <a:rPr sz="1150" b="0">
                <a:solidFill>
                  <a:srgbClr val="21272A"/>
                </a:solidFill>
              </a:rPr>
              <a:t>Foreign keys enforce referential integrity across users, instruments, inspections, and certificates.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Unique Indexes &amp; Anti-Duplication: </a:t>
            </a:r>
            <a:r>
              <a:rPr sz="1150" b="0">
                <a:solidFill>
                  <a:srgbClr val="21272A"/>
                </a:solidFill>
              </a:rPr>
              <a:t>Unique constraints on `serial_number` and `certificate_number` prevent fraudulent duplicate registrations.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Audit Trails &amp; Soft Deletes: </a:t>
            </a:r>
            <a:r>
              <a:rPr sz="1150" b="0">
                <a:solidFill>
                  <a:srgbClr val="21272A"/>
                </a:solidFill>
              </a:rPr>
              <a:t>`AuditLogs` table captures timestamp, user_id, client IP, action, and JSON payload changes for forensic audits.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Alembic Version Control: </a:t>
            </a:r>
            <a:r>
              <a:rPr sz="1150" b="0">
                <a:solidFill>
                  <a:srgbClr val="21272A"/>
                </a:solidFill>
              </a:rPr>
              <a:t>Database migrations are checked into Git repository, ensuring zero schema drift across dev and prod.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484632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📊 Core Entity Relationships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Relational Mapping &amp; Foreign Key Cardinality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Users (1 : M) Instruments: </a:t>
            </a:r>
            <a:r>
              <a:rPr sz="1150" b="0">
                <a:solidFill>
                  <a:srgbClr val="21272A"/>
                </a:solidFill>
              </a:rPr>
              <a:t>Traders register multiple instruments; role enum classifies access permissions.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Instruments (1 : M) Applications: </a:t>
            </a:r>
            <a:r>
              <a:rPr sz="1150" b="0">
                <a:solidFill>
                  <a:srgbClr val="21272A"/>
                </a:solidFill>
              </a:rPr>
              <a:t>An instrument undergoes initial verification followed by periodic re-verifications.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Applications (1 : 1) Inspections: </a:t>
            </a:r>
            <a:r>
              <a:rPr sz="1150" b="0">
                <a:solidFill>
                  <a:srgbClr val="21272A"/>
                </a:solidFill>
              </a:rPr>
              <a:t>Each scheduled application links to an inspection containing test load observations.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Inspections (1 : 1) Certificates: </a:t>
            </a:r>
            <a:r>
              <a:rPr sz="1150" b="0">
                <a:solidFill>
                  <a:srgbClr val="21272A"/>
                </a:solidFill>
              </a:rPr>
              <a:t>A passed inspection generates a single tamper-proof certificate record.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50" b="1">
                <a:solidFill>
                  <a:srgbClr val="0F62FE"/>
                </a:solidFill>
              </a:rPr>
              <a:t>• </a:t>
            </a:r>
            <a:r>
              <a:rPr sz="1150" b="1">
                <a:solidFill>
                  <a:srgbClr val="0F2A4A"/>
                </a:solidFill>
              </a:rPr>
              <a:t>Complaints (M : 1) Instruments / Officers: </a:t>
            </a:r>
            <a:r>
              <a:rPr sz="1150" b="0">
                <a:solidFill>
                  <a:srgbClr val="21272A"/>
                </a:solidFill>
              </a:rPr>
              <a:t>Citizens log complaints mapped to instruments, routed to jurisdictional LMOs.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USER INTERFACE &amp; EXPERIENCE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Screen 1: Public QR &amp; Certificate Portal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Next.js 14 Frontend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Key Capabilities: </a:t>
            </a:r>
            <a:r>
              <a:rPr sz="1100" b="0">
                <a:solidFill>
                  <a:srgbClr val="21272A"/>
                </a:solidFill>
              </a:rPr>
              <a:t>Accessible without login. Features real-time camera scanning, certificate number search, validity badges, and instant whistleblower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Screen 2: Role-Tailored Interactive Dashboards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Next.js 14 Frontend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Key Capabilities: </a:t>
            </a:r>
            <a:r>
              <a:rPr sz="1100" b="0">
                <a:solidFill>
                  <a:srgbClr val="21272A"/>
                </a:solidFill>
              </a:rPr>
              <a:t>Role-specific telemetry: Traders view active vs expiring scales; LMOs view pending inspections and fee approvals; Admins view state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Screen 3: Multi-Step Inspection &amp; Observation Logger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Next.js 14 Frontend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Key Capabilities: </a:t>
            </a:r>
            <a:r>
              <a:rPr sz="1100" b="0">
                <a:solidFill>
                  <a:srgbClr val="21272A"/>
                </a:solidFill>
              </a:rPr>
              <a:t>Step-by-step checklist wizard for LMOs: test weight readings, standard vs observed values, automatic error percentage calculation, and photo uploads.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375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Screen 4: Digital Certificate Preview &amp; PDF Downloader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Next.js 14 Frontend Implementation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Key Capabilities: </a:t>
            </a:r>
            <a:r>
              <a:rPr sz="1100" b="0">
                <a:solidFill>
                  <a:srgbClr val="21272A"/>
                </a:solidFill>
              </a:rPr>
              <a:t>Clean official certificate preview with embedded QR code, digital signature indicator, SHA-256 fingerprint, and one-click PDF download.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TECHNICAL DESIGN &amp; SECURITY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🔐 Cryptographic Hashing (SHA-256)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Enterprise Security Architecture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Implementation: </a:t>
            </a:r>
            <a:r>
              <a:rPr sz="1100" b="0">
                <a:solidFill>
                  <a:srgbClr val="21272A"/>
                </a:solidFill>
              </a:rPr>
              <a:t>Canonical JSON payload consisting of CertificateID + SerialNo + OfficerID + IssueDate + ExpiryDate is hashed using SHA-256. Any database tampering immediately breaks certificate validity during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🛡️ Authentication &amp; Authorization (RBAC)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Enterprise Security Architecture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Implementation: </a:t>
            </a:r>
            <a:r>
              <a:rPr sz="1100" b="0">
                <a:solidFill>
                  <a:srgbClr val="21272A"/>
                </a:solidFill>
              </a:rPr>
              <a:t>Stateless JSON Web Tokens (JWT) with HS256 signatures and expiration timers. Passwords salted and hashed with bcrypt. Enforced via FastAPI dependency injection guards on every private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📄 Tamper-Evident ReportLab PDF Engine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Enterprise Security Architecture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Implementation: </a:t>
            </a:r>
            <a:r>
              <a:rPr sz="1100" b="0">
                <a:solidFill>
                  <a:srgbClr val="21272A"/>
                </a:solidFill>
              </a:rPr>
              <a:t>Automated PDF generation with official Indian Legal Metrology formatting, 45-degree diagonal anti-copy watermark, Level-H error-correcting QR code, and officer-selected inspection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37560"/>
            <a:ext cx="5303520" cy="23317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🔒 Data Isolation &amp; API Security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Enterprise Security Architecture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Implementation: </a:t>
            </a:r>
            <a:r>
              <a:rPr sz="1100" b="0">
                <a:solidFill>
                  <a:srgbClr val="21272A"/>
                </a:solidFill>
              </a:rPr>
              <a:t>Strict tenant data isolation: traders can only access their own instruments; LMOs only see assigned jurisdiction; SQL injection eliminated via SQLAlchemy parameterized queries; CORS enabled.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TESTING METHODOLOGY &amp; 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10881360" cy="1051560"/>
          </a:xfrm>
          <a:prstGeom prst="roundRect">
            <a:avLst/>
          </a:prstGeom>
          <a:solidFill>
            <a:srgbClr val="EDF9F0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Comprehensive Automated Pytest Suite &amp; Performance Benchmark</a:t>
            </a:r>
          </a:p>
          <a:p>
            <a:pPr>
              <a:defRPr sz="1100">
                <a:solidFill>
                  <a:srgbClr val="21272A"/>
                </a:solidFill>
              </a:defRPr>
            </a:pPr>
            <a:r>
              <a:t>Over 100+ unit and integration test cases covering authentication, state machine transitions, fee calculation, cryptographic tampering, and PDF certificate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7472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1. Unit &amp; Schema Tests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Models, Schemas &amp; State Machine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Pydantic Validation: </a:t>
            </a:r>
            <a:r>
              <a:rPr sz="1100" b="0">
                <a:solidFill>
                  <a:srgbClr val="21272A"/>
                </a:solidFill>
              </a:rPr>
              <a:t>Rejects malformed input payloads before hitting the database.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State Machine Invariants: </a:t>
            </a:r>
            <a:r>
              <a:rPr sz="1100" b="0">
                <a:solidFill>
                  <a:srgbClr val="21272A"/>
                </a:solidFill>
              </a:rPr>
              <a:t>Validates that invalid transitions (e.g. `DRAFT` ➔ `VERIFIED`) are strictly rejected.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Fee Engine Calculations: </a:t>
            </a:r>
            <a:r>
              <a:rPr sz="1100" b="0">
                <a:solidFill>
                  <a:srgbClr val="21272A"/>
                </a:solidFill>
              </a:rPr>
              <a:t>Tests compounding Rule 14 late fees against exact Schedule XII statutory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2. Security &amp; Anti-Tamper Tests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Cryptographic Verification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SHA-256 Tamper Test: </a:t>
            </a:r>
            <a:r>
              <a:rPr sz="1100" b="0">
                <a:solidFill>
                  <a:srgbClr val="21272A"/>
                </a:solidFill>
              </a:rPr>
              <a:t>Modifying 1 byte in the database causes immediate hash mismatch and flags certificate as invalid.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RBAC Security Tests: </a:t>
            </a:r>
            <a:r>
              <a:rPr sz="1100" b="0">
                <a:solidFill>
                  <a:srgbClr val="21272A"/>
                </a:solidFill>
              </a:rPr>
              <a:t>Verifies traders cannot approve applications or access officer-only inspection routes.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Token Expiry Tests: </a:t>
            </a:r>
            <a:r>
              <a:rPr sz="1100" b="0">
                <a:solidFill>
                  <a:srgbClr val="21272A"/>
                </a:solidFill>
              </a:rPr>
              <a:t>Expired or forged JWT tokens are blocked with HTTP 401 Unauthorized.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474720" cy="3703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3. Performance Metrics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Measured Response Latencies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API Latency: </a:t>
            </a:r>
            <a:r>
              <a:rPr sz="1100" b="0">
                <a:solidFill>
                  <a:srgbClr val="21272A"/>
                </a:solidFill>
              </a:rPr>
              <a:t>Average REST endpoint latency &lt; 120ms under concurrent load.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PDF Generation: </a:t>
            </a:r>
            <a:r>
              <a:rPr sz="1100" b="0">
                <a:solidFill>
                  <a:srgbClr val="21272A"/>
                </a:solidFill>
              </a:rPr>
              <a:t>Full bilingual ReportLab certificate generation &lt; 450ms.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QR Verification: </a:t>
            </a:r>
            <a:r>
              <a:rPr sz="1100" b="0">
                <a:solidFill>
                  <a:srgbClr val="21272A"/>
                </a:solidFill>
              </a:rPr>
              <a:t>Scan-to-screen public verification latency &lt; 1.5s on mobile.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DELIVERABLES,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5303520" cy="4846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📅 Execution Roadmap &amp; Key Deliverables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Delivered on Schedule for SIH Evaluation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Week 1: Foundations &amp; Schema: </a:t>
            </a:r>
            <a:r>
              <a:rPr sz="1100" b="0">
                <a:solidFill>
                  <a:srgbClr val="21272A"/>
                </a:solidFill>
              </a:rPr>
              <a:t>Requirements analysis, PostgreSQL 3NF schema, Alembic setup, FastAPI core.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Week 2: Backend &amp; RBAC: </a:t>
            </a:r>
            <a:r>
              <a:rPr sz="1100" b="0">
                <a:solidFill>
                  <a:srgbClr val="21272A"/>
                </a:solidFill>
              </a:rPr>
              <a:t>Auth services, JWT tokens, instrument onboarding, fee calculator engine.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Week 3: Frontend &amp; PDF Engine: </a:t>
            </a:r>
            <a:r>
              <a:rPr sz="1100" b="0">
                <a:solidFill>
                  <a:srgbClr val="21272A"/>
                </a:solidFill>
              </a:rPr>
              <a:t>Next.js 14 App Router, RTK Query, ReportLab PDF certificate &amp; QR generation.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Week 4: Grievance, Testing &amp; Polish: </a:t>
            </a:r>
            <a:r>
              <a:rPr sz="1100" b="0">
                <a:solidFill>
                  <a:srgbClr val="21272A"/>
                </a:solidFill>
              </a:rPr>
              <a:t>Citizen complaint portal, automated Pytest suite, performance optimization.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Core Deliverables: </a:t>
            </a:r>
            <a:r>
              <a:rPr sz="1100" b="0">
                <a:solidFill>
                  <a:srgbClr val="21272A"/>
                </a:solidFill>
              </a:rPr>
              <a:t>Working Web Platform, Public QR Portal, Pytest Suite, OpenAPI Docs, Bilingual PDF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822960"/>
            <a:ext cx="5303520" cy="484632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2A4A"/>
                </a:solidFill>
                <a:latin typeface="Calibri"/>
              </a:defRPr>
            </a:pPr>
            <a:r>
              <a:t>🌟 Societal Impact &amp; Future Scope</a:t>
            </a:r>
          </a:p>
          <a:p>
            <a:pPr>
              <a:spcAft>
                <a:spcPts val="600"/>
              </a:spcAft>
              <a:defRPr sz="1050" i="1">
                <a:solidFill>
                  <a:srgbClr val="525252"/>
                </a:solidFill>
                <a:latin typeface="Calibri"/>
              </a:defRPr>
            </a:pPr>
            <a:r>
              <a:t>Revolutionizing Legal Metrology in India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Fair Trade Protection: </a:t>
            </a:r>
            <a:r>
              <a:rPr sz="1100" b="0">
                <a:solidFill>
                  <a:srgbClr val="21272A"/>
                </a:solidFill>
              </a:rPr>
              <a:t>Guarantees accurate weights in commercial markets, protecting millions of citizens from short-weighing fraud.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Zero Bureaucratic Bottlenecks: </a:t>
            </a:r>
            <a:r>
              <a:rPr sz="1100" b="0">
                <a:solidFill>
                  <a:srgbClr val="21272A"/>
                </a:solidFill>
              </a:rPr>
              <a:t>Reduces inspection turnaround times from weeks to days with automated scheduling and digital endorsement.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Statutory Revenue Enforcement: </a:t>
            </a:r>
            <a:r>
              <a:rPr sz="1100" b="0">
                <a:solidFill>
                  <a:srgbClr val="21272A"/>
                </a:solidFill>
              </a:rPr>
              <a:t>Automated late fee compounding ensures zero leakage in state treasury revenue collection.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Future Roadmap: </a:t>
            </a:r>
            <a:r>
              <a:rPr sz="1100" b="0">
                <a:solidFill>
                  <a:srgbClr val="21272A"/>
                </a:solidFill>
              </a:rPr>
              <a:t>Direct IoT smart scale calibration telemetry, multi-lingual vernacular voice support, WhatsApp alert integration.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• </a:t>
            </a:r>
            <a:r>
              <a:rPr sz="1100" b="1">
                <a:solidFill>
                  <a:srgbClr val="0F2A4A"/>
                </a:solidFill>
              </a:rPr>
              <a:t>Conclusion: </a:t>
            </a:r>
            <a:r>
              <a:rPr sz="1100" b="0">
                <a:solidFill>
                  <a:srgbClr val="21272A"/>
                </a:solidFill>
              </a:rPr>
              <a:t>METRIX provides a production-grade, tamper-proof, scalable digital governance system fulfilling all SIH26036 mandates.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3407</Words>
  <Application>Microsoft Office PowerPoint</Application>
  <PresentationFormat>Widescreen</PresentationFormat>
  <Paragraphs>293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Vishnu Kant</cp:lastModifiedBy>
  <cp:revision>2</cp:revision>
  <dcterms:created xsi:type="dcterms:W3CDTF">2013-01-27T09:14:00Z</dcterms:created>
  <dcterms:modified xsi:type="dcterms:W3CDTF">2026-09-29T05:29:45Z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2BCAF948F14048228A13A804BAD3D824_12</vt:lpwstr>
  </property>
  <property fmtid="{D5CDD505-2E9C-101B-9397-08002B2CF9AE}" pid="3" name="KSOProductBuildVer">
    <vt:lpwstr>1033-12.1.0.28485</vt:lpwstr>
  </property>
</Properties>
</file>