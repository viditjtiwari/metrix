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PROJECT TITLE &amp;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530840" cy="49415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F4E79"/>
                </a:solidFill>
                <a:latin typeface="Calibri"/>
              </a:defRPr>
            </a:pPr>
            <a:r>
              <a:t>METRIX: Online Verification and Digital Certification System</a:t>
            </a:r>
            <a:endParaRPr lang="en-IN"/>
          </a:p>
          <a:p>
            <a:pPr>
              <a:spcAft>
                <a:spcPts val="2000"/>
              </a:spcAft>
              <a:defRPr sz="1400" i="1">
                <a:solidFill>
                  <a:srgbClr val="4A5568"/>
                </a:solidFill>
                <a:latin typeface="Calibri"/>
              </a:defRPr>
            </a:pPr>
            <a:r>
              <a:t>For Legal Metrology Weighing and Measuring Instruments | SIH Problem ID: SIH26036</a:t>
            </a:r>
          </a:p>
          <a:p>
            <a:pPr>
              <a:defRPr sz="1500" b="1">
                <a:solidFill>
                  <a:srgbClr val="1F4E79"/>
                </a:solidFill>
                <a:latin typeface="Calibri"/>
              </a:defRPr>
            </a:pPr>
            <a:r>
              <a:t>Project Objective:</a:t>
            </a:r>
          </a:p>
          <a:p>
            <a:pPr>
              <a:spcAft>
                <a:spcPts val="2400"/>
              </a:spcAft>
              <a:defRPr sz="1300">
                <a:solidFill>
                  <a:srgbClr val="1A202C"/>
                </a:solidFill>
                <a:latin typeface="Calibri"/>
              </a:defRPr>
            </a:pPr>
            <a:r>
              <a:t>To eliminate manual paperwork and fraudulent stamping by delivering an end-to-end digital lifecycle: Online Instrument Registration, Multi-stage Verification, Anti-Tamper Digital Certificates with SHA-256 Hashing, Instant QR Verification, and Citizen Grievance Redressal.</a:t>
            </a:r>
          </a:p>
          <a:p>
            <a:pPr>
              <a:spcAft>
                <a:spcPts val="600"/>
              </a:spcAft>
              <a:defRPr sz="1500" b="1">
                <a:solidFill>
                  <a:srgbClr val="1F4E79"/>
                </a:solidFill>
                <a:latin typeface="Calibri"/>
              </a:defRPr>
            </a:pPr>
            <a:r>
              <a:t>Student Team &amp; Project Details:</a:t>
            </a:r>
          </a:p>
          <a:p>
            <a:pPr>
              <a:defRPr sz="1300">
                <a:solidFill>
                  <a:srgbClr val="1A202C"/>
                </a:solidFill>
                <a:latin typeface="Calibri"/>
              </a:defRPr>
            </a:pPr>
            <a:r>
              <a:t>   - Full Stack Engineering &amp; System Architecture: Team Member 1 [Roll No: 23EJICSXX1]</a:t>
            </a:r>
          </a:p>
          <a:p>
            <a:pPr>
              <a:defRPr sz="1300">
                <a:solidFill>
                  <a:srgbClr val="1A202C"/>
                </a:solidFill>
                <a:latin typeface="Calibri"/>
              </a:defRPr>
            </a:pPr>
            <a:r>
              <a:t>   - Backend Services, Cryptographic Security &amp; DB: Team Member 2 [Roll No: 23EJICSXX2]</a:t>
            </a:r>
          </a:p>
          <a:p>
            <a:pPr>
              <a:spcAft>
                <a:spcPts val="1800"/>
              </a:spcAft>
              <a:defRPr sz="1300">
                <a:solidFill>
                  <a:srgbClr val="1A202C"/>
                </a:solidFill>
                <a:latin typeface="Calibri"/>
              </a:defRPr>
            </a:pPr>
            <a:r>
              <a:t>   - Frontend UI/UX, Workflows &amp; QA Testing: Team Member 3 [Roll No: 23EJICSXX3]</a:t>
            </a:r>
          </a:p>
          <a:p>
            <a:pPr>
              <a:defRPr sz="1300" b="1">
                <a:solidFill>
                  <a:srgbClr val="4A5568"/>
                </a:solidFill>
                <a:latin typeface="Calibri"/>
              </a:defRPr>
            </a:pPr>
            <a:r>
              <a:t>Guide / Mentor: Project Coordinator | 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573385" cy="50399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0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Background &amp; Regulatory Context: </a:t>
            </a:r>
            <a:r>
              <a:rPr sz="1400" b="0">
                <a:solidFill>
                  <a:srgbClr val="1A202C"/>
                </a:solidFill>
                <a:latin typeface="Calibri"/>
              </a:rPr>
              <a:t>Under the Legal Metrology Act 2009, all commercial weighing and measuring instruments in India require mandatory initial verification and periodic re-verification to protect fair trade.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Core Challenge Addressed: </a:t>
            </a:r>
            <a:r>
              <a:rPr sz="1400" b="0">
                <a:solidFill>
                  <a:srgbClr val="1A202C"/>
                </a:solidFill>
                <a:latin typeface="Calibri"/>
              </a:rPr>
              <a:t>Traditional manual verification suffers from severe bureaucratic delays, physical stamp tampering, lack of tracking for expiring instruments, and zero public transparency.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Target Users &amp; Stakeholders: </a:t>
            </a:r>
            <a:r>
              <a:rPr sz="1400" b="0">
                <a:solidFill>
                  <a:srgbClr val="1A202C"/>
                </a:solidFill>
                <a:latin typeface="Calibri"/>
              </a:rPr>
              <a:t>5 distinct ecosystem actors: Instrument Owners/Traders, Legal Metrology Officers (LMO), Govt Approved Test Centres (GATC), State Administrators, and Public Consumers.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Proposed Solution: </a:t>
            </a:r>
            <a:r>
              <a:rPr sz="1400" b="0">
                <a:solidFill>
                  <a:srgbClr val="1A202C"/>
                </a:solidFill>
                <a:latin typeface="Calibri"/>
              </a:rPr>
              <a:t>A high-integrity web platform unifying online application filing, automated officer scheduling, digital inspection logging, cryptographic PDF certificate generation with dynamic QR code verification, and grievance redressal.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Project Scope: </a:t>
            </a:r>
            <a:r>
              <a:rPr sz="1400" b="0">
                <a:solidFill>
                  <a:srgbClr val="1A202C"/>
                </a:solidFill>
                <a:latin typeface="Calibri"/>
              </a:rPr>
              <a:t>Full-cycle digital governance system built adhering strictly to SIH problem statement SIH26036 with production-ready REST API, reactive frontend, and tamper-proof auditing.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Existing Problem &amp; Regulatory Gap: </a:t>
            </a:r>
            <a:r>
              <a:rPr sz="1400" b="0">
                <a:solidFill>
                  <a:srgbClr val="1A202C"/>
                </a:solidFill>
                <a:latin typeface="Calibri"/>
              </a:rPr>
              <a:t>Manual paper certificates and lead wire seals are susceptible to counterfeiting, physical damage, and unauthorized manipulation by dishonest traders.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Why The Problem Matters: </a:t>
            </a:r>
            <a:r>
              <a:rPr sz="1400" b="0">
                <a:solidFill>
                  <a:srgbClr val="1A202C"/>
                </a:solidFill>
                <a:latin typeface="Calibri"/>
              </a:rPr>
              <a:t>Inaccurate weights directly impact millions of consumers daily in retail and commerce, leading to unfair trade practices, loss of tax revenue, and consumer distrust.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Limitations of Current Manual Systems: </a:t>
            </a:r>
            <a:r>
              <a:rPr sz="1400" b="0">
                <a:solidFill>
                  <a:srgbClr val="1A202C"/>
                </a:solidFill>
                <a:latin typeface="Calibri"/>
              </a:rPr>
              <a:t>High operational backlog for field officers, absence of centralized audit trails, no automated re-verification reminder mechanism, and zero public mechanism to verify authenticity.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Specific Problem Statement (SIH26036): </a:t>
            </a:r>
            <a:r>
              <a:rPr sz="1400" b="0">
                <a:solidFill>
                  <a:srgbClr val="1A202C"/>
                </a:solidFill>
                <a:latin typeface="Calibri"/>
              </a:rPr>
              <a:t>'Development of an Online Verification System for Weighing and Measuring Instruments' to digitize verification, prevent stamp forgery, and enforce timely re-verification.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Expected Measurable Outcome: </a:t>
            </a:r>
            <a:r>
              <a:rPr sz="1400" b="0">
                <a:solidFill>
                  <a:srgbClr val="1A202C"/>
                </a:solidFill>
                <a:latin typeface="Calibri"/>
              </a:rPr>
              <a:t>100% paperless verification, cryptographic integrity of certificates via SHA-256, instant mobile QR validation in under 2 seconds, and automated grievance triage.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1. End-to-End Digital Workflow: </a:t>
            </a:r>
            <a:r>
              <a:rPr sz="1400" b="0">
                <a:solidFill>
                  <a:srgbClr val="1A202C"/>
                </a:solidFill>
                <a:latin typeface="Calibri"/>
              </a:rPr>
              <a:t>Digitize complete instrument lifecycle from self-registration, verification filing, officer allocation, to certificate issuance.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2. Cryptographic Security &amp; Anti-Tampering: </a:t>
            </a:r>
            <a:r>
              <a:rPr sz="1400" b="0">
                <a:solidFill>
                  <a:srgbClr val="1A202C"/>
                </a:solidFill>
                <a:latin typeface="Calibri"/>
              </a:rPr>
              <a:t>Issue digital certificates embedded with unique certificate IDs, SHA-256 integrity hashes, and dynamic QR codes for fraud prevention.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3. Role-Based Access Control (RBAC): </a:t>
            </a:r>
            <a:r>
              <a:rPr sz="1400" b="0">
                <a:solidFill>
                  <a:srgbClr val="1A202C"/>
                </a:solidFill>
                <a:latin typeface="Calibri"/>
              </a:rPr>
              <a:t>Enforce strict separation of duties across 5 roles (Owner, Officer, GATC Lab, Admin, Public) using secure JWT authentication and route guards.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4. Real-time Transparency &amp; Citizen Grievance: </a:t>
            </a:r>
            <a:r>
              <a:rPr sz="1400" b="0">
                <a:solidFill>
                  <a:srgbClr val="1A202C"/>
                </a:solidFill>
                <a:latin typeface="Calibri"/>
              </a:rPr>
              <a:t>Provide public QR scanning portal, automated expiry tracking with 30-day alerts, and a consumer complaint redressal portal for illegal instruments.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Key Measurable Outcomes: </a:t>
            </a:r>
            <a:r>
              <a:rPr sz="1400" b="0">
                <a:solidFill>
                  <a:srgbClr val="1A202C"/>
                </a:solidFill>
                <a:latin typeface="Calibri"/>
              </a:rPr>
              <a:t>Zero paper forms, sub-second certificate verification, 100% auditable inspection logs, and proactive re-verification tracking.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LITERATURE / EXISTING SYSTEM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Existing Conventional System: </a:t>
            </a:r>
            <a:r>
              <a:rPr sz="1400" b="0">
                <a:solidFill>
                  <a:srgbClr val="1A202C"/>
                </a:solidFill>
                <a:latin typeface="Calibri"/>
              </a:rPr>
              <a:t>Physical logbooks, paper stamped receipts, physical lead seals applied manually by visiting officers with no centralized database tracking.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Legacy State e-Portals: </a:t>
            </a:r>
            <a:r>
              <a:rPr sz="1400" b="0">
                <a:solidFill>
                  <a:srgbClr val="1A202C"/>
                </a:solidFill>
                <a:latin typeface="Calibri"/>
              </a:rPr>
              <a:t>Certain states have basic static application portals, but they lack tamper-proof digital certificates, automated verification scheduling, lab integration, or consumer verification.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Critical Implementation Gaps Identified: </a:t>
            </a:r>
            <a:r>
              <a:rPr sz="1400" b="0">
                <a:solidFill>
                  <a:srgbClr val="1A202C"/>
                </a:solidFill>
                <a:latin typeface="Calibri"/>
              </a:rPr>
              <a:t>No digital anti-counterfeiting mechanism (fake certificates circulate freely); lack of citizen verification interface; no unified tracking for GATC testing vs LMO field verification.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METRIX Value-Add &amp; Improvements: </a:t>
            </a:r>
            <a:r>
              <a:rPr sz="1400" b="0">
                <a:solidFill>
                  <a:srgbClr val="1A202C"/>
                </a:solidFill>
                <a:latin typeface="Calibri"/>
              </a:rPr>
              <a:t>Tamper-evident SHA-256 certificate hashing, mobile-friendly QR verification without login, automated re-verification tracking, GATC calibration workflows, and citizen complaint redressal.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PROPOSED SYSTEM - METRIX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9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System Concept: </a:t>
            </a:r>
            <a:r>
              <a:rPr sz="1400" b="0">
                <a:solidFill>
                  <a:srgbClr val="1A202C"/>
                </a:solidFill>
                <a:latin typeface="Calibri"/>
              </a:rPr>
              <a:t>A unified, state-of-the-art Digital Metrology Platform enabling seamless multi-stakeholder collaboration with strict regulatory compliance and cryptographic verification.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Major Modules: </a:t>
            </a:r>
            <a:r>
              <a:rPr sz="1400" b="0">
                <a:solidFill>
                  <a:srgbClr val="1A202C"/>
                </a:solidFill>
                <a:latin typeface="Calibri"/>
              </a:rPr>
              <a:t>User &amp; Auth (RBAC), Instrument Registry, Application Lifecycle Manager, Inspection &amp; Observation Logger, GATC Calibration Lab, Certificate Generator, QR Portal, Complaints Redressal.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Key Innovative Features: </a:t>
            </a:r>
            <a:r>
              <a:rPr sz="1400" b="0">
                <a:solidFill>
                  <a:srgbClr val="1A202C"/>
                </a:solidFill>
                <a:latin typeface="Calibri"/>
              </a:rPr>
              <a:t>Dynamic QR generation linking to live public validation endpoint; immutable SHA-256 certificate fingerprinting; automated expiry lifecycle; multi-tier grievance workflow.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Input -&gt; Processing -&gt; Output: </a:t>
            </a:r>
            <a:r>
              <a:rPr sz="1400" b="0">
                <a:solidFill>
                  <a:srgbClr val="1A202C"/>
                </a:solidFill>
                <a:latin typeface="Calibri"/>
              </a:rPr>
              <a:t>Trader Input (specs, make, serial, fee) -&gt; Processing (FastAPI validation, allocation, inspection, hash computation) -&gt; Output (Digitally sealed PDF certificate + Public QR verification page).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Distinguishing Highlights: </a:t>
            </a:r>
            <a:r>
              <a:rPr sz="1400" b="0">
                <a:solidFill>
                  <a:srgbClr val="1A202C"/>
                </a:solidFill>
                <a:latin typeface="Calibri"/>
              </a:rPr>
              <a:t>Lightweight, zero-bloat modular architecture (no complex microservice overheads), sub-second response times, and fully responsive across mobile and desktop.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Architecture Pattern: </a:t>
            </a:r>
            <a:r>
              <a:rPr sz="1400" b="0">
                <a:solidFill>
                  <a:srgbClr val="1A202C"/>
                </a:solidFill>
                <a:latin typeface="Calibri"/>
              </a:rPr>
              <a:t>Modular Monolith with clean 4-tier separation: Client (Presentation), API Routing, Business Service Layer, and Data Persistence.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Tier 1: Next.js 14 Frontend: </a:t>
            </a:r>
            <a:r>
              <a:rPr sz="1400" b="0">
                <a:solidFill>
                  <a:srgbClr val="1A202C"/>
                </a:solidFill>
                <a:latin typeface="Calibri"/>
              </a:rPr>
              <a:t>Server-Side Rendered (SSR) &amp; Client components in TypeScript, Tailwind CSS, Lucide Icons, and Redux Toolkit Query (RTK Query) for cached server-state management.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Tier 2: FastAPI Application Server (/api/v1): </a:t>
            </a:r>
            <a:r>
              <a:rPr sz="1400" b="0">
                <a:solidFill>
                  <a:srgbClr val="1A202C"/>
                </a:solidFill>
                <a:latin typeface="Calibri"/>
              </a:rPr>
              <a:t>Asynchronous high-performance Python ASGI backend. Features Pydantic v2 schemas for strict contract validation and role-based dependency injection guards.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Tier 3: Domain Service &amp; Repository Layer: </a:t>
            </a:r>
            <a:r>
              <a:rPr sz="1400" b="0">
                <a:solidFill>
                  <a:srgbClr val="1A202C"/>
                </a:solidFill>
                <a:latin typeface="Calibri"/>
              </a:rPr>
              <a:t>Encapsulates business rules, verification state machine, ReportLab PDF rendering engine, and Python 'qrcode' generator.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Tier 4: PostgreSQL &amp; SQLAlchemy 2.0 ORM: </a:t>
            </a:r>
            <a:r>
              <a:rPr sz="1400" b="0">
                <a:solidFill>
                  <a:srgbClr val="1A202C"/>
                </a:solidFill>
                <a:latin typeface="Calibri"/>
              </a:rPr>
              <a:t>Enterprise relational database ensuring strict ACID compliance, relational integrity (FK constraints), and Alembic version-controlled schema migrations.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VERIFICATION LIFECYCLE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Phase 1: Registration &amp; Application Submission: </a:t>
            </a:r>
            <a:r>
              <a:rPr sz="1400" b="0">
                <a:solidFill>
                  <a:srgbClr val="1A202C"/>
                </a:solidFill>
                <a:latin typeface="Calibri"/>
              </a:rPr>
              <a:t>Instrument Owner registers instrument (Brand, Serial No, Capacity, Class) -&gt; Submits verification or re-verification application with verification fee receipt.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Phase 2: Administrative Review &amp; Allocation: </a:t>
            </a:r>
            <a:r>
              <a:rPr sz="1400" b="0">
                <a:solidFill>
                  <a:srgbClr val="1A202C"/>
                </a:solidFill>
                <a:latin typeface="Calibri"/>
              </a:rPr>
              <a:t>Administrator reviews application completeness -&gt; System assigns Legal Metrology Officer (LMO) / GATC Centre based on jurisdiction and instrument category.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Phase 3: Inspection &amp; Testing: </a:t>
            </a:r>
            <a:r>
              <a:rPr sz="1400" b="0">
                <a:solidFill>
                  <a:srgbClr val="1A202C"/>
                </a:solidFill>
                <a:latin typeface="Calibri"/>
              </a:rPr>
              <a:t>Officer conducts on-site or lab verification -&gt; Records standard test weight observations, Maximum Permissible Error (MPE), and seal condition.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Phase 4: Decision &amp; Cryptographic Issuance: </a:t>
            </a:r>
            <a:r>
              <a:rPr sz="1400" b="0">
                <a:solidFill>
                  <a:srgbClr val="1A202C"/>
                </a:solidFill>
                <a:latin typeface="Calibri"/>
              </a:rPr>
              <a:t>If Verified: System computes SHA-256 hash, generates secure QR code, creates signed PDF certificate, and sets expiry date (1-2 years). If Rejected: Rejection notice issued with remediation steps.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Phase 5: Public Verification &amp; Expiry Tracking: </a:t>
            </a:r>
            <a:r>
              <a:rPr sz="1400" b="0">
                <a:solidFill>
                  <a:srgbClr val="1A202C"/>
                </a:solidFill>
                <a:latin typeface="Calibri"/>
              </a:rPr>
              <a:t>Consumers scan instrument QR to verify authenticity; automated tracking monitors certificate expiry and prompts timely re-verification.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FUNCTIONAL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Module 1: Authentication &amp; RBAC: </a:t>
            </a:r>
            <a:r>
              <a:rPr sz="1400" b="0">
                <a:solidFill>
                  <a:srgbClr val="1A202C"/>
                </a:solidFill>
                <a:latin typeface="Calibri"/>
              </a:rPr>
              <a:t>JWT token generation (access + refresh), password hashing via bcrypt, role authorization (ADMIN, OFFICER, GATC, OWNER, CITIZEN).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Module 2: Instrument Management: </a:t>
            </a:r>
            <a:r>
              <a:rPr sz="1400" b="0">
                <a:solidFill>
                  <a:srgbClr val="1A202C"/>
                </a:solidFill>
                <a:latin typeface="Calibri"/>
              </a:rPr>
              <a:t>CRUD registry of instruments with type classification (weights, measures, weighing scales, fuel dispensers) and serial number tracking.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Module 3: Verification &amp; Inspection Engine: </a:t>
            </a:r>
            <a:r>
              <a:rPr sz="1400" b="0">
                <a:solidFill>
                  <a:srgbClr val="1A202C"/>
                </a:solidFill>
                <a:latin typeface="Calibri"/>
              </a:rPr>
              <a:t>Application workflow state machine, inspection checklists, standard weight test logs, error margin recordings, and outcome determination.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Module 4: Digital Certificate &amp; QR Engine: </a:t>
            </a:r>
            <a:r>
              <a:rPr sz="1400" b="0">
                <a:solidFill>
                  <a:srgbClr val="1A202C"/>
                </a:solidFill>
                <a:latin typeface="Calibri"/>
              </a:rPr>
              <a:t>ReportLab automated PDF generation with official legal metrology formatting, SHA-256 payload integrity seal, and embedded QR code.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Module 5: Citizen Grievance Redressal: </a:t>
            </a:r>
            <a:r>
              <a:rPr sz="1400" b="0">
                <a:solidFill>
                  <a:srgbClr val="1A202C"/>
                </a:solidFill>
                <a:latin typeface="Calibri"/>
              </a:rPr>
              <a:t>Public portal to file complaints with photo evidence and geolocation for unverified instruments, with administrative review and LMO action dispatch.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USE CASES &amp; ACTOR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Actor 1: Instrument Owner / Trader: </a:t>
            </a:r>
            <a:r>
              <a:rPr sz="1400" b="0">
                <a:solidFill>
                  <a:srgbClr val="1A202C"/>
                </a:solidFill>
                <a:latin typeface="Calibri"/>
              </a:rPr>
              <a:t>Use Case: Registers new weighing scale -&gt; Applies for initial verification -&gt; Downloads issued digital certificate -&gt; Receives re-verification reminder before expiry.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Actor 2: Legal Metrology Officer (LMO): </a:t>
            </a:r>
            <a:r>
              <a:rPr sz="1400" b="0">
                <a:solidFill>
                  <a:srgbClr val="1A202C"/>
                </a:solidFill>
                <a:latin typeface="Calibri"/>
              </a:rPr>
              <a:t>Use Case: Accesses dashboard of allocated inspections -&gt; Enters test load readings -&gt; Validates permissible errors -&gt; Approves or rejects verification with remarks.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Actor 3: GATC Testing Lab: </a:t>
            </a:r>
            <a:r>
              <a:rPr sz="1400" b="0">
                <a:solidFill>
                  <a:srgbClr val="1A202C"/>
                </a:solidFill>
                <a:latin typeface="Calibri"/>
              </a:rPr>
              <a:t>Use Case: Conducts high-precision calibration testing for heavy/specialized instruments -&gt; Submits calibration test certificates and error curves.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Actor 4: System Administrator: </a:t>
            </a:r>
            <a:r>
              <a:rPr sz="1400" b="0">
                <a:solidFill>
                  <a:srgbClr val="1A202C"/>
                </a:solidFill>
                <a:latin typeface="Calibri"/>
              </a:rPr>
              <a:t>Use Case: Manages officer jurisdictions, monitors state-wide verification statistics, reviews audit logs, and monitors grievance resolution times.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Actor 5: Public Consumer / Citizen: </a:t>
            </a:r>
            <a:r>
              <a:rPr sz="1400" b="0">
                <a:solidFill>
                  <a:srgbClr val="1A202C"/>
                </a:solidFill>
                <a:latin typeface="Calibri"/>
              </a:rPr>
              <a:t>Use Case: Scans QR code on retail shop scale to instantly view valid certificate details, or files an anonymous grievance against short-weighing traders.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DATABASE &amp; DATA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9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Relational Schema Design (PostgreSQL): </a:t>
            </a:r>
            <a:r>
              <a:rPr sz="1400" b="0">
                <a:solidFill>
                  <a:srgbClr val="1A202C"/>
                </a:solidFill>
                <a:latin typeface="Calibri"/>
              </a:rPr>
              <a:t>Designed to enforce 3NF normalization, strict foreign key constraints, indexing on lookup columns, and ACID compliance for critical legal records.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Core Entities &amp; Relationships: </a:t>
            </a:r>
            <a:r>
              <a:rPr sz="1400" b="0">
                <a:solidFill>
                  <a:srgbClr val="1A202C"/>
                </a:solidFill>
                <a:latin typeface="Calibri"/>
              </a:rPr>
              <a:t>Users (1:M) Instruments -&gt; Instruments (1:M) Applications -&gt; Applications (1:1) Inspections -&gt; Inspections (1:1) Certificates -&gt; Certificates (1:1) Verification Records.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Audit &amp; Grievance Tables: </a:t>
            </a:r>
            <a:r>
              <a:rPr sz="1400" b="0">
                <a:solidFill>
                  <a:srgbClr val="1A202C"/>
                </a:solidFill>
                <a:latin typeface="Calibri"/>
              </a:rPr>
              <a:t>Complaints table (linked to instruments/officers with status tracking) and AuditLogs table (captures timestamp, actor_id, IP, action, entity_id).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Data Integrity &amp; Security Constraints: </a:t>
            </a:r>
            <a:r>
              <a:rPr sz="1400" b="0">
                <a:solidFill>
                  <a:srgbClr val="1A202C"/>
                </a:solidFill>
                <a:latin typeface="Calibri"/>
              </a:rPr>
              <a:t>Unique constraints on Serial Numbers and Certificate Numbers; Enum types for statuses (PENDING, APPROVED, REJECTED, EXPIRED); password salt hashing.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Alembic Database Migrations: </a:t>
            </a:r>
            <a:r>
              <a:rPr sz="1400" b="0">
                <a:solidFill>
                  <a:srgbClr val="1A202C"/>
                </a:solidFill>
                <a:latin typeface="Calibri"/>
              </a:rPr>
              <a:t>Every schema change is committed via code-controlled, reversible migration scripts ensuring zero database drift across development and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UI / UX DESIGN &amp; KEY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Design Philosophy: </a:t>
            </a:r>
            <a:r>
              <a:rPr sz="1400" b="0">
                <a:solidFill>
                  <a:srgbClr val="1A202C"/>
                </a:solidFill>
                <a:latin typeface="Calibri"/>
              </a:rPr>
              <a:t>Clean, modern, and accessible government UI adhering to modern design standards with responsive layouts, dark/light contrast, and clear visual hierarchy.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Screen 1: Landing Page &amp; Public QR Verification: </a:t>
            </a:r>
            <a:r>
              <a:rPr sz="1400" b="0">
                <a:solidFill>
                  <a:srgbClr val="1A202C"/>
                </a:solidFill>
                <a:latin typeface="Calibri"/>
              </a:rPr>
              <a:t>Hero section with SIH problem info, direct certificate search input, and mobile-friendly camera QR scanner for instant certificate authenticity display.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Screen 2: Role-Specific Dashboards: </a:t>
            </a:r>
            <a:r>
              <a:rPr sz="1400" b="0">
                <a:solidFill>
                  <a:srgbClr val="1A202C"/>
                </a:solidFill>
                <a:latin typeface="Calibri"/>
              </a:rPr>
              <a:t>Tailored analytics cards: Owners see instrument validity counts; LMOs view pending inspections; Admins see state-wide compliance heatmaps.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Screen 3: Multi-Step Verification &amp; Inspection Forms: </a:t>
            </a:r>
            <a:r>
              <a:rPr sz="1400" b="0">
                <a:solidFill>
                  <a:srgbClr val="1A202C"/>
                </a:solidFill>
                <a:latin typeface="Calibri"/>
              </a:rPr>
              <a:t>Intuitive forms with real-time validation, test weight observation tables, automatic error percentage computation, and document uploads.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Screen 4: Digital Certificate View &amp; PDF Viewer: </a:t>
            </a:r>
            <a:r>
              <a:rPr sz="1400" b="0">
                <a:solidFill>
                  <a:srgbClr val="1A202C"/>
                </a:solidFill>
                <a:latin typeface="Calibri"/>
              </a:rPr>
              <a:t>Clean official certificate preview with embedded QR code, digital signature indicator, SHA-256 fingerprint, and one-click PDF download.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TECHNICAL DESIGN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9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Technology Stack: </a:t>
            </a:r>
            <a:r>
              <a:rPr sz="1400" b="0">
                <a:solidFill>
                  <a:srgbClr val="1A202C"/>
                </a:solidFill>
                <a:latin typeface="Calibri"/>
              </a:rPr>
              <a:t>Frontend: Next.js 14, TypeScript, Tailwind CSS, RTK Query | Backend: FastAPI (Python 3.12), SQLAlchemy 2.0, Pydantic v2 | Database: PostgreSQL 16.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API &amp; Service Design: </a:t>
            </a:r>
            <a:r>
              <a:rPr sz="1400" b="0">
                <a:solidFill>
                  <a:srgbClr val="1A202C"/>
                </a:solidFill>
                <a:latin typeface="Calibri"/>
              </a:rPr>
              <a:t>Strict RESTful API conventions under `/api/v1` namespace with comprehensive OpenAPI/Swagger documentation and automated schema validation.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Cryptographic Security &amp; SHA-256: </a:t>
            </a:r>
            <a:r>
              <a:rPr sz="1400" b="0">
                <a:solidFill>
                  <a:srgbClr val="1A202C"/>
                </a:solidFill>
                <a:latin typeface="Calibri"/>
              </a:rPr>
              <a:t>Canonical certificate payload (CertID + Serial + OfficerID + IssueDate + ExpiryDate) is hashed with SHA-256. Any modification invalidates the digital seal.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Authentication &amp; Authorization Security: </a:t>
            </a:r>
            <a:r>
              <a:rPr sz="1400" b="0">
                <a:solidFill>
                  <a:srgbClr val="1A202C"/>
                </a:solidFill>
                <a:latin typeface="Calibri"/>
              </a:rPr>
              <a:t>Stateless JWT tokens with expiration, bcrypt password hashing with auto-salting, CORS restrictions, SQL injection prevention via ORM parameterization.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Deployment Architecture: </a:t>
            </a:r>
            <a:r>
              <a:rPr sz="1400" b="0">
                <a:solidFill>
                  <a:srgbClr val="1A202C"/>
                </a:solidFill>
                <a:latin typeface="Calibri"/>
              </a:rPr>
              <a:t>Local native execution without virtualization overhead (Uvicorn ASGI + Next.js Node server); ready for containerized cloud deployment (AWS/GCP/Docker).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TESTING STRATEGY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Testing Strategy &amp; Priority: </a:t>
            </a:r>
            <a:r>
              <a:rPr sz="1400" b="0">
                <a:solidFill>
                  <a:srgbClr val="1A202C"/>
                </a:solidFill>
                <a:latin typeface="Calibri"/>
              </a:rPr>
              <a:t>Pytest automated testing suite covering unit tests for models/services, integration tests for API endpoints, and end-to-end user workflow validation.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Key Test Scenarios Covered: </a:t>
            </a:r>
            <a:r>
              <a:rPr sz="1400" b="0">
                <a:solidFill>
                  <a:srgbClr val="1A202C"/>
                </a:solidFill>
                <a:latin typeface="Calibri"/>
              </a:rPr>
              <a:t>Authentication &amp; RBAC permission tests (e.g. traders prevented from approving applications); inspection test weight threshold validations; duplicate serial number rejection.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Certificate Integrity Verification Tests: </a:t>
            </a:r>
            <a:r>
              <a:rPr sz="1400" b="0">
                <a:solidFill>
                  <a:srgbClr val="1A202C"/>
                </a:solidFill>
                <a:latin typeface="Calibri"/>
              </a:rPr>
              <a:t>Tamper tests validating that changing a single byte in certificate data causes SHA-256 verification mismatch and immediately flags the certificate as invalid.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Performance &amp; Response Metrics: </a:t>
            </a:r>
            <a:r>
              <a:rPr sz="1400" b="0">
                <a:solidFill>
                  <a:srgbClr val="1A202C"/>
                </a:solidFill>
                <a:latin typeface="Calibri"/>
              </a:rPr>
              <a:t>API response latency &lt; 120ms for standard requests; PDF certificate generation &lt; 450ms; QR scan-to-result &lt; 1.5 seconds on 4G networks.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Validation Criteria Achieved: </a:t>
            </a:r>
            <a:r>
              <a:rPr sz="1400" b="0">
                <a:solidFill>
                  <a:srgbClr val="1A202C"/>
                </a:solidFill>
                <a:latin typeface="Calibri"/>
              </a:rPr>
              <a:t>100% test pass rate across core lifecycle; zero critical security vulnerabilities; adherence to all SIH26036 functional specifications.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TIMELINE, DELIVERABLES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900"/>
              </a:spcAft>
              <a:defRPr sz="2000" b="0"/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Four-Week Execution Timeline: </a:t>
            </a:r>
            <a:r>
              <a:rPr sz="1400" b="0">
                <a:solidFill>
                  <a:srgbClr val="1A202C"/>
                </a:solidFill>
                <a:latin typeface="Calibri"/>
              </a:rPr>
              <a:t>Week 1: Requirements &amp; DB Design | Week 2: Backend API &amp; Auth | Week 3: Frontend Portals &amp; PDF/QR Engine | Week 4: Grievance Module, Testing &amp; Deployment.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Key Project Deliverables: </a:t>
            </a:r>
            <a:r>
              <a:rPr sz="1400" b="0">
                <a:solidFill>
                  <a:srgbClr val="1A202C"/>
                </a:solidFill>
                <a:latin typeface="Calibri"/>
              </a:rPr>
              <a:t>Fully functional Web Platform (Frontend + Backend), Automated PDF Certificate Generator, Public QR Verification Portal, Comprehensive API Documentation, Pytest Suite.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Business &amp; Societal Impact: </a:t>
            </a:r>
            <a:r>
              <a:rPr sz="1400" b="0">
                <a:solidFill>
                  <a:srgbClr val="1A202C"/>
                </a:solidFill>
                <a:latin typeface="Calibri"/>
              </a:rPr>
              <a:t>Eliminates fraudulent weighing practices, automates compliance for millions of businesses, drastically reduces officer workload, and empowers consumer vigilance.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Future Enhancements: </a:t>
            </a:r>
            <a:r>
              <a:rPr sz="1400" b="0">
                <a:solidFill>
                  <a:srgbClr val="1A202C"/>
                </a:solidFill>
                <a:latin typeface="Calibri"/>
              </a:rPr>
              <a:t>IoT smart scale integration for automated calibration streaming, multi-lingual vernacular support, and SMS/WhatsApp automated notification dispatch.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Calibri"/>
              </a:rPr>
              <a:t>- </a:t>
            </a:r>
            <a:r>
              <a:rPr sz="1400" b="1">
                <a:solidFill>
                  <a:srgbClr val="1F4E79"/>
                </a:solidFill>
                <a:latin typeface="Calibri"/>
              </a:rPr>
              <a:t>Conclusion: </a:t>
            </a:r>
            <a:r>
              <a:rPr sz="1400" b="0">
                <a:solidFill>
                  <a:srgbClr val="1A202C"/>
                </a:solidFill>
                <a:latin typeface="Calibri"/>
              </a:rPr>
              <a:t>METRIX provides a secure, transparent, scalable, and audit-compliant solution for SIH26036, revolutionizing legal metrology in India.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0"/>
            </a:pPr>
            <a:r>
              <a:t>Project Assessment / Department of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1000" b="0"/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3048</Words>
  <Application>WPS Presentation</Application>
  <PresentationFormat>On-screen Show (4:3)</PresentationFormat>
  <Paragraphs>216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Rajendra Purohit</cp:lastModifiedBy>
  <cp:revision>2</cp:revision>
  <dcterms:created xsi:type="dcterms:W3CDTF">2013-01-27T09:14:00Z</dcterms:created>
  <dcterms:modified xsi:type="dcterms:W3CDTF">2026-09-25T03:50:17Z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2BCAF948F14048228A13A804BAD3D824_12</vt:lpwstr>
  </property>
  <property fmtid="{D5CDD505-2E9C-101B-9397-08002B2CF9AE}" pid="3" name="KSOProductBuildVer">
    <vt:lpwstr>1033-12.1.0.28485</vt:lpwstr>
  </property>
</Properties>
</file>